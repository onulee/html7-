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37214" y="2697247"/>
            <a:ext cx="2073786" cy="384166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perspectiveHeroicExtremeLeftFacing"/>
            <a:lightRig rig="threePt" dir="t"/>
          </a:scene3d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7410450" cy="839787"/>
          </a:xfrm>
        </p:spPr>
        <p:txBody>
          <a:bodyPr anchor="b">
            <a:normAutofit/>
          </a:bodyPr>
          <a:lstStyle>
            <a:lvl1pPr algn="ctr">
              <a:defRPr sz="48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8915" y="4104377"/>
            <a:ext cx="2829984" cy="230684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4500000">
              <a:rot lat="0" lon="1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03595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46940" y="153307"/>
            <a:ext cx="9091189" cy="66758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2437" y="1014196"/>
            <a:ext cx="11240193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53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77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48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79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0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3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4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0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7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04709" y="236469"/>
            <a:ext cx="9091189" cy="66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439" y="1041356"/>
            <a:ext cx="112401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3C23F-80D8-41F7-A602-5BAA4D96D6F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26" name="Picture 2" descr="html5에 대한 이미지 검색결과"/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053" y="6197581"/>
            <a:ext cx="523894" cy="52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순서도: 지연 9"/>
          <p:cNvSpPr/>
          <p:nvPr userDrawn="1"/>
        </p:nvSpPr>
        <p:spPr>
          <a:xfrm>
            <a:off x="614538" y="212449"/>
            <a:ext cx="890171" cy="667587"/>
          </a:xfrm>
          <a:prstGeom prst="flowChartDelay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472439" y="212449"/>
            <a:ext cx="142099" cy="66758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1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mitrybaranovskiy.github.io/raphael" TargetMode="External"/><Relationship Id="rId2" Type="http://schemas.openxmlformats.org/officeDocument/2006/relationships/hyperlink" Target="h%20t%20t%20p:/d3j%20s.o%20r%20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03. </a:t>
            </a:r>
            <a:r>
              <a:rPr lang="ko-KR" altLang="en-US" sz="4400"/>
              <a:t>이미지와 하이퍼링크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914526" y="2838450"/>
            <a:ext cx="4010024" cy="486000"/>
            <a:chOff x="1914526" y="2838450"/>
            <a:chExt cx="4010024" cy="486000"/>
          </a:xfrm>
        </p:grpSpPr>
        <p:sp>
          <p:nvSpPr>
            <p:cNvPr id="6" name="직사각형 5"/>
            <p:cNvSpPr/>
            <p:nvPr/>
          </p:nvSpPr>
          <p:spPr>
            <a:xfrm>
              <a:off x="2609851" y="2838450"/>
              <a:ext cx="3248025" cy="48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914526" y="2838450"/>
              <a:ext cx="685800" cy="4857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03-1</a:t>
              </a:r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14638" y="2878694"/>
              <a:ext cx="1552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이미지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2590801" y="3305175"/>
              <a:ext cx="3333749" cy="0"/>
            </a:xfrm>
            <a:prstGeom prst="line">
              <a:avLst/>
            </a:prstGeom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1914526" y="3674640"/>
            <a:ext cx="4010024" cy="486000"/>
            <a:chOff x="1914526" y="3790950"/>
            <a:chExt cx="4010024" cy="486000"/>
          </a:xfrm>
        </p:grpSpPr>
        <p:sp>
          <p:nvSpPr>
            <p:cNvPr id="10" name="직사각형 9"/>
            <p:cNvSpPr/>
            <p:nvPr/>
          </p:nvSpPr>
          <p:spPr>
            <a:xfrm>
              <a:off x="2609851" y="3790950"/>
              <a:ext cx="3248025" cy="48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914526" y="3790950"/>
              <a:ext cx="685800" cy="4857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03-2</a:t>
              </a:r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14638" y="3831194"/>
              <a:ext cx="1552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링크 만들기</a:t>
              </a:r>
            </a:p>
          </p:txBody>
        </p:sp>
        <p:cxnSp>
          <p:nvCxnSpPr>
            <p:cNvPr id="13" name="직선 연결선 12"/>
            <p:cNvCxnSpPr/>
            <p:nvPr/>
          </p:nvCxnSpPr>
          <p:spPr>
            <a:xfrm>
              <a:off x="2590801" y="4257675"/>
              <a:ext cx="3333749" cy="0"/>
            </a:xfrm>
            <a:prstGeom prst="line">
              <a:avLst/>
            </a:prstGeom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914526" y="4510831"/>
            <a:ext cx="4010024" cy="486000"/>
            <a:chOff x="1914526" y="4762501"/>
            <a:chExt cx="4010024" cy="486000"/>
          </a:xfrm>
        </p:grpSpPr>
        <p:sp>
          <p:nvSpPr>
            <p:cNvPr id="14" name="직사각형 13"/>
            <p:cNvSpPr/>
            <p:nvPr/>
          </p:nvSpPr>
          <p:spPr>
            <a:xfrm>
              <a:off x="2609851" y="4762501"/>
              <a:ext cx="3248025" cy="48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914526" y="4762501"/>
              <a:ext cx="685800" cy="4857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03-3</a:t>
              </a:r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14638" y="4802745"/>
              <a:ext cx="1552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SVG </a:t>
              </a:r>
              <a:r>
                <a:rPr lang="ko-KR" altLang="en-US"/>
                <a:t>이미지</a:t>
              </a:r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2590801" y="5229226"/>
              <a:ext cx="3333749" cy="0"/>
            </a:xfrm>
            <a:prstGeom prst="line">
              <a:avLst/>
            </a:prstGeom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993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03-1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웹 문서와 이미지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081" y="1804472"/>
            <a:ext cx="1013304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/>
              <a:t>웹 페이지에서 사용할 수 있는 이미지 파일은 </a:t>
            </a:r>
            <a:r>
              <a:rPr lang="en-US" altLang="ko-KR" sz="1400"/>
              <a:t/>
            </a:r>
            <a:br>
              <a:rPr lang="en-US" altLang="ko-KR" sz="1400"/>
            </a:br>
            <a:r>
              <a:rPr lang="ko-KR" altLang="en-US" sz="1400"/>
              <a:t>파일 크기가 크지 않으면서도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화질은 좋게 유지해야 하기 때문에 </a:t>
            </a:r>
            <a:r>
              <a:rPr lang="en-US" altLang="ko-KR" sz="1400"/>
              <a:t/>
            </a:r>
            <a:br>
              <a:rPr lang="en-US" altLang="ko-KR" sz="1400"/>
            </a:br>
            <a:r>
              <a:rPr lang="ko-KR" altLang="en-US" sz="1400"/>
              <a:t>몇 가지 파일 형식만 사용할 수 있다</a:t>
            </a:r>
            <a:r>
              <a:rPr lang="en-US" altLang="ko-KR" sz="1400"/>
              <a:t>. </a:t>
            </a:r>
            <a:endParaRPr lang="ko-KR" altLang="en-US" sz="1400" dirty="0"/>
          </a:p>
        </p:txBody>
      </p:sp>
      <p:pic>
        <p:nvPicPr>
          <p:cNvPr id="36" name="_x169971024" descr="10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385" y="3138713"/>
            <a:ext cx="259466" cy="29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429580" y="4356904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&lt;img&gt; </a:t>
            </a:r>
            <a:r>
              <a:rPr lang="ko-KR" altLang="en-US" b="1"/>
              <a:t>태그 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457575" y="4970733"/>
            <a:ext cx="38027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/>
              <a:t>웹</a:t>
            </a:r>
            <a:r>
              <a:rPr lang="en-US" altLang="ko-KR" sz="1400"/>
              <a:t> </a:t>
            </a:r>
            <a:r>
              <a:rPr lang="ko-KR" altLang="en-US" sz="1400"/>
              <a:t>문서에 이미지를 삽입할 때 사용</a:t>
            </a:r>
            <a:endParaRPr lang="en-US" altLang="ko-KR" sz="140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889" y="1847404"/>
            <a:ext cx="5657850" cy="2085975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0" y="5330100"/>
            <a:ext cx="2790825" cy="51435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395" y="4440563"/>
            <a:ext cx="4657536" cy="2044397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505081" y="4059214"/>
            <a:ext cx="101330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0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101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03-1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74" y="1822584"/>
            <a:ext cx="101050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/>
              <a:t>src </a:t>
            </a:r>
            <a:r>
              <a:rPr lang="ko-KR" altLang="en-US" sz="1600"/>
              <a:t>속성 </a:t>
            </a:r>
            <a:r>
              <a:rPr lang="en-US" altLang="ko-KR" sz="1600"/>
              <a:t>: </a:t>
            </a:r>
            <a:r>
              <a:rPr lang="ko-KR" altLang="en-US" sz="1600"/>
              <a:t>이미지 파일 경로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웹 문서 파일의 위치를 기준으로 이미지 경로 지정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웹 사이트에 있는 이미지도 주소를 알아내어 </a:t>
            </a:r>
            <a:r>
              <a:rPr lang="en-US" altLang="ko-KR" sz="1600"/>
              <a:t>src </a:t>
            </a:r>
            <a:r>
              <a:rPr lang="ko-KR" altLang="en-US" sz="1600"/>
              <a:t>속성에 사용할 수 있다</a:t>
            </a:r>
            <a:r>
              <a:rPr lang="en-US" altLang="ko-KR" sz="1600"/>
              <a:t>.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sz="16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/>
              <a:t>alt </a:t>
            </a:r>
            <a:r>
              <a:rPr lang="ko-KR" altLang="en-US" sz="1600"/>
              <a:t>속성</a:t>
            </a:r>
            <a:r>
              <a:rPr lang="en-US" altLang="ko-KR" sz="1600"/>
              <a:t> : </a:t>
            </a:r>
            <a:r>
              <a:rPr lang="ko-KR" altLang="en-US" sz="1600"/>
              <a:t>이미지를</a:t>
            </a:r>
            <a:r>
              <a:rPr lang="en-US" altLang="ko-KR" sz="1600"/>
              <a:t> </a:t>
            </a:r>
            <a:r>
              <a:rPr lang="ko-KR" altLang="en-US" sz="1600"/>
              <a:t>설명하는 대체 텍스트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대체 텍스트를 화면 낭독기가 읽어 줌</a:t>
            </a:r>
            <a:r>
              <a:rPr lang="en-US" altLang="ko-KR" sz="1600"/>
              <a:t>. 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이미지를 표시할 수 없는 상황일 때 대체 텍스트 표시</a:t>
            </a:r>
            <a:endParaRPr lang="en-US" altLang="ko-KR" sz="16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/>
              <a:t>width, height </a:t>
            </a:r>
            <a:r>
              <a:rPr lang="ko-KR" altLang="en-US" sz="1600"/>
              <a:t>속성 </a:t>
            </a:r>
            <a:r>
              <a:rPr lang="en-US" altLang="ko-KR" sz="1600"/>
              <a:t>: </a:t>
            </a:r>
            <a:r>
              <a:rPr lang="ko-KR" altLang="en-US" sz="1600"/>
              <a:t>이미지</a:t>
            </a:r>
            <a:r>
              <a:rPr lang="en-US" altLang="ko-KR" sz="1600"/>
              <a:t> </a:t>
            </a:r>
            <a:r>
              <a:rPr lang="ko-KR" altLang="en-US" sz="1600"/>
              <a:t>크기 조정하기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이 속성을 사용하지 않으면 원래 이미지 크기대로 표시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이 속성을 이용해 화면에 표시하는 이미지 크기 조정</a:t>
            </a:r>
            <a:r>
              <a:rPr lang="en-US" altLang="ko-KR" sz="1600"/>
              <a:t>, </a:t>
            </a:r>
            <a:br>
              <a:rPr lang="en-US" altLang="ko-KR" sz="1600"/>
            </a:br>
            <a:r>
              <a:rPr lang="en-US" altLang="ko-KR" sz="1600"/>
              <a:t>but </a:t>
            </a:r>
            <a:r>
              <a:rPr lang="ko-KR" altLang="en-US" sz="1600"/>
              <a:t>이미지</a:t>
            </a:r>
            <a:r>
              <a:rPr lang="en-US" altLang="ko-KR" sz="1600"/>
              <a:t> </a:t>
            </a:r>
            <a:r>
              <a:rPr lang="ko-KR" altLang="en-US" sz="1600"/>
              <a:t>파일의 용량은 그대로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&lt;img&gt; </a:t>
            </a:r>
            <a:r>
              <a:rPr lang="ko-KR" altLang="en-US" b="1"/>
              <a:t>태그의 속성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88" y="4868789"/>
            <a:ext cx="3504775" cy="18329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131" y="3349782"/>
            <a:ext cx="2208691" cy="13038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597" y="2045796"/>
            <a:ext cx="2671150" cy="83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9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101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03-1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074" y="1476504"/>
            <a:ext cx="10105053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/>
              <a:t>&lt;figure&gt; </a:t>
            </a:r>
            <a:r>
              <a:rPr lang="ko-KR" altLang="en-US" sz="1400"/>
              <a:t>태그 </a:t>
            </a:r>
            <a:r>
              <a:rPr lang="en-US" altLang="ko-KR" sz="1400"/>
              <a:t>: </a:t>
            </a:r>
            <a:r>
              <a:rPr lang="ko-KR" altLang="en-US" sz="1400"/>
              <a:t>설명글을 붙일 대상 지정</a:t>
            </a:r>
            <a:endParaRPr lang="en-US" altLang="ko-KR" sz="1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/>
              <a:t>웹 문서 안에서 한 단위가 되는 요소를 묶을 때 사용</a:t>
            </a:r>
            <a:endParaRPr lang="en-US" altLang="ko-KR" sz="14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/>
              <a:t>설명 글을 표시할 때 </a:t>
            </a:r>
            <a:r>
              <a:rPr lang="en-US" altLang="ko-KR" sz="1400"/>
              <a:t>&lt;figure&gt;</a:t>
            </a:r>
            <a:r>
              <a:rPr lang="ko-KR" altLang="en-US" sz="1400"/>
              <a:t>로 먼저 묶어야 함</a:t>
            </a:r>
            <a:endParaRPr lang="en-US" altLang="ko-KR" sz="14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sz="1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/>
              <a:t>&lt;figcaption&gt; </a:t>
            </a:r>
            <a:r>
              <a:rPr lang="ko-KR" altLang="en-US" sz="1400"/>
              <a:t>태그 </a:t>
            </a:r>
            <a:r>
              <a:rPr lang="en-US" altLang="ko-KR" sz="1400"/>
              <a:t>: </a:t>
            </a:r>
            <a:r>
              <a:rPr lang="ko-KR" altLang="en-US" sz="1400"/>
              <a:t>이미지를</a:t>
            </a:r>
            <a:r>
              <a:rPr lang="en-US" altLang="ko-KR" sz="1400"/>
              <a:t> </a:t>
            </a:r>
            <a:r>
              <a:rPr lang="ko-KR" altLang="en-US" sz="1400"/>
              <a:t>설명하는 대체 텍스트</a:t>
            </a:r>
            <a:endParaRPr lang="en-US" altLang="ko-KR" sz="1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/>
              <a:t>대체 텍스트를 화면 낭독기가 읽어 줌</a:t>
            </a:r>
            <a:r>
              <a:rPr lang="en-US" altLang="ko-KR" sz="1400"/>
              <a:t>. 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/>
              <a:t>이미지를 표시할 수 없는 상황일 때 대체 텍스트 표시</a:t>
            </a:r>
            <a:endParaRPr lang="en-US" altLang="ko-KR" sz="1400"/>
          </a:p>
        </p:txBody>
      </p:sp>
      <p:sp>
        <p:nvSpPr>
          <p:cNvPr id="10" name="TextBox 9"/>
          <p:cNvSpPr txBox="1"/>
          <p:nvPr/>
        </p:nvSpPr>
        <p:spPr>
          <a:xfrm>
            <a:off x="533073" y="921405"/>
            <a:ext cx="578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&lt;figure&gt;, &lt;figcaption&gt; - </a:t>
            </a:r>
            <a:r>
              <a:rPr lang="ko-KR" altLang="en-US" b="1"/>
              <a:t>이미지에 설명글 붙이기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33" y="1888343"/>
            <a:ext cx="3162300" cy="5048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16" y="3775252"/>
            <a:ext cx="3267075" cy="5810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613" y="1476503"/>
            <a:ext cx="5065509" cy="1900612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32590" y="5630031"/>
            <a:ext cx="5306411" cy="3530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32590" y="5630032"/>
            <a:ext cx="431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[</a:t>
            </a:r>
            <a:r>
              <a:rPr lang="ko-KR" altLang="en-US" b="1"/>
              <a:t>실습</a:t>
            </a:r>
            <a:r>
              <a:rPr lang="en-US" altLang="ko-KR" b="1"/>
              <a:t>] </a:t>
            </a:r>
            <a:r>
              <a:rPr lang="ko-KR" altLang="en-US" b="1"/>
              <a:t>온라인 프로필 </a:t>
            </a:r>
            <a:r>
              <a:rPr lang="en-US" altLang="ko-KR" b="1"/>
              <a:t>-</a:t>
            </a:r>
            <a:r>
              <a:rPr lang="ko-KR" altLang="en-US" b="1"/>
              <a:t> 이미지 삽입하기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rcRect r="11021"/>
          <a:stretch/>
        </p:blipFill>
        <p:spPr>
          <a:xfrm>
            <a:off x="6592614" y="3324122"/>
            <a:ext cx="4974974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0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03-2</a:t>
            </a:r>
            <a:endParaRPr kumimoji="0" lang="ko-KR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링크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하이퍼링크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081" y="1804472"/>
            <a:ext cx="10133046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다른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문서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혹은 다른 사이트로 바로 연결해 주는 기능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외부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사이트나 외부 페이지로도 연결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메뉴 뿐만 아니라 원하는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곳에 링크를 만들 수 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있다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9309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&lt;a&gt;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태그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href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속성 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589309" y="2662919"/>
            <a:ext cx="428776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반드시 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href 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속성을 함께 사용해서 어떤 대상으로 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/>
            </a:r>
            <a:b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</a:b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연결하는지 알려주어야 한다</a:t>
            </a:r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&lt;a&gt; 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태그에서 사용할 수 있는 속성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09" y="4047913"/>
            <a:ext cx="4630034" cy="211799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35" y="1804472"/>
            <a:ext cx="5086350" cy="628650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6040073" y="1057012"/>
            <a:ext cx="0" cy="52431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19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03-2</a:t>
            </a:r>
            <a:endParaRPr kumimoji="0" lang="ko-KR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링크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target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속성 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–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새 탭에서 링크 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081" y="1804472"/>
            <a:ext cx="5467880" cy="1708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/>
              <a:t>다른 사이트로 링크하거나 현재 페이지를 유지한 상태에서 링크 페이지를 표시할 때</a:t>
            </a:r>
            <a:endParaRPr lang="en-US" altLang="ko-KR" sz="1400"/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/>
              <a:t>현재 페이지는 그대로 유지하면서 새 창이나 새 탭에 표시</a:t>
            </a:r>
            <a:endParaRPr lang="en-US" altLang="ko-KR" sz="1400"/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fontAlgn="base">
              <a:lnSpc>
                <a:spcPct val="150000"/>
              </a:lnSpc>
            </a:pPr>
            <a:r>
              <a:rPr lang="ko-KR" altLang="en-US" sz="1400"/>
              <a:t>사용할 수 있는 값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74" y="3512632"/>
            <a:ext cx="5061821" cy="162142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463542" y="1553547"/>
            <a:ext cx="5122877" cy="167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텍스트 링크 만들기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="http://www.easyspub.com"&gt;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이지스퍼블리싱 홈페이지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현재 화면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="http://www.easyspub.com"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="_blank"&gt;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이지스퍼블리싱 홈페이지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새 창 또는 새 탭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4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30" y="3512632"/>
            <a:ext cx="5729331" cy="2047223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5972961" y="1124125"/>
            <a:ext cx="0" cy="53857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9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03-2</a:t>
            </a:r>
            <a:endParaRPr kumimoji="0" lang="ko-KR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링크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한 페이지 안에서 점프하기 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앵커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081" y="1804472"/>
            <a:ext cx="546788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/>
              <a:t>앵커를 사용하려면 우선 이동하고 싶은 위치마다 </a:t>
            </a:r>
            <a:r>
              <a:rPr lang="en-US" altLang="ko-KR" sz="1400"/>
              <a:t>id </a:t>
            </a:r>
            <a:r>
              <a:rPr lang="ko-KR" altLang="en-US" sz="1400"/>
              <a:t>속성을 이용해 앵커를 만듦</a:t>
            </a:r>
            <a:r>
              <a:rPr lang="en-US" altLang="ko-KR" sz="1400"/>
              <a:t>.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/>
              <a:t>&lt;a&gt; </a:t>
            </a:r>
            <a:r>
              <a:rPr lang="ko-KR" altLang="en-US" sz="1400"/>
              <a:t>태그의 </a:t>
            </a:r>
            <a:r>
              <a:rPr lang="en-US" altLang="ko-KR" sz="1400"/>
              <a:t>href </a:t>
            </a:r>
            <a:r>
              <a:rPr lang="ko-KR" altLang="en-US" sz="1400"/>
              <a:t>속성을 사용해 링크함</a:t>
            </a:r>
            <a:r>
              <a:rPr lang="en-US" altLang="ko-KR" sz="1400"/>
              <a:t>. </a:t>
            </a:r>
            <a:r>
              <a:rPr lang="ko-KR" altLang="en-US" sz="1400"/>
              <a:t>단</a:t>
            </a:r>
            <a:r>
              <a:rPr lang="en-US" altLang="ko-KR" sz="1400"/>
              <a:t>, </a:t>
            </a:r>
            <a:r>
              <a:rPr lang="ko-KR" altLang="en-US" sz="1400"/>
              <a:t>앵커 이름 앞에 </a:t>
            </a:r>
            <a:r>
              <a:rPr lang="en-US" altLang="ko-KR" sz="1400"/>
              <a:t>#</a:t>
            </a:r>
            <a:r>
              <a:rPr lang="ko-KR" altLang="en-US" sz="1400"/>
              <a:t>을 붙여 앵커 표시</a:t>
            </a:r>
            <a:r>
              <a:rPr lang="en-US" altLang="ko-KR" sz="1400"/>
              <a:t>.</a:t>
            </a:r>
            <a:endParaRPr lang="ko-KR" altLang="en-US" sz="1400"/>
          </a:p>
        </p:txBody>
      </p:sp>
      <p:cxnSp>
        <p:nvCxnSpPr>
          <p:cNvPr id="8" name="직선 연결선 7"/>
          <p:cNvCxnSpPr/>
          <p:nvPr/>
        </p:nvCxnSpPr>
        <p:spPr>
          <a:xfrm>
            <a:off x="5972961" y="1124125"/>
            <a:ext cx="0" cy="53857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08" y="3512632"/>
            <a:ext cx="4048125" cy="52387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52" y="1124125"/>
            <a:ext cx="5448300" cy="51435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32591" y="5135081"/>
            <a:ext cx="5004548" cy="3530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2590" y="5135082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[</a:t>
            </a:r>
            <a:r>
              <a:rPr lang="ko-KR" altLang="en-US" b="1"/>
              <a:t>실습</a:t>
            </a:r>
            <a:r>
              <a:rPr lang="en-US" altLang="ko-KR" b="1"/>
              <a:t>] </a:t>
            </a:r>
            <a:r>
              <a:rPr lang="ko-KR" altLang="en-US" b="1"/>
              <a:t>온라인 프로필 </a:t>
            </a:r>
            <a:r>
              <a:rPr lang="en-US" altLang="ko-KR" b="1"/>
              <a:t>–</a:t>
            </a:r>
            <a:r>
              <a:rPr lang="ko-KR" altLang="en-US" b="1"/>
              <a:t> 링크 추가하기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32591" y="5629036"/>
            <a:ext cx="5004548" cy="3530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32590" y="5629037"/>
            <a:ext cx="445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[</a:t>
            </a:r>
            <a:r>
              <a:rPr lang="ko-KR" altLang="en-US" b="1"/>
              <a:t>실습</a:t>
            </a:r>
            <a:r>
              <a:rPr lang="en-US" altLang="ko-KR" b="1"/>
              <a:t>] </a:t>
            </a:r>
            <a:r>
              <a:rPr lang="ko-KR" altLang="en-US" b="1"/>
              <a:t>인터넷에 내 온라인 프로필 올리기</a:t>
            </a:r>
          </a:p>
        </p:txBody>
      </p:sp>
    </p:spTree>
    <p:extLst>
      <p:ext uri="{BB962C8B-B14F-4D97-AF65-F5344CB8AC3E}">
        <p14:creationId xmlns:p14="http://schemas.microsoft.com/office/powerpoint/2010/main" val="400018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03-2</a:t>
            </a:r>
            <a:endParaRPr kumimoji="0" lang="ko-KR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ko-KR" altLang="en-US" sz="3200"/>
              <a:t>링크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&lt;area&gt;</a:t>
            </a:r>
            <a:r>
              <a:rPr kumimoji="0" lang="en-US" altLang="ko-KR" sz="18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ko-KR" altLang="en-US" sz="18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태그</a:t>
            </a:r>
            <a:r>
              <a:rPr kumimoji="0" lang="en-US" altLang="ko-KR" sz="18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usemap </a:t>
            </a:r>
            <a:r>
              <a:rPr kumimoji="0" lang="ko-KR" altLang="en-US" sz="1800" b="1" i="0" u="none" strike="noStrike" kern="0" cap="none" spc="0" normalizeH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속성 </a:t>
            </a: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 </a:t>
            </a:r>
            <a:r>
              <a:rPr lang="ko-KR" altLang="en-US" b="1" kern="0">
                <a:solidFill>
                  <a:sysClr val="windowText" lastClr="000000"/>
                </a:solidFill>
              </a:rPr>
              <a:t>이미지맵</a:t>
            </a: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081" y="1693008"/>
            <a:ext cx="546788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400"/>
              <a:t>이미지맵 </a:t>
            </a:r>
            <a:r>
              <a:rPr lang="en-US" altLang="ko-KR" sz="1400"/>
              <a:t>: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한 이미지 상에 여러 다른 링크를 만드는 것</a:t>
            </a:r>
            <a:endParaRPr lang="ko-KR" altLang="en-US" sz="1400"/>
          </a:p>
        </p:txBody>
      </p:sp>
      <p:cxnSp>
        <p:nvCxnSpPr>
          <p:cNvPr id="8" name="직선 연결선 7"/>
          <p:cNvCxnSpPr/>
          <p:nvPr/>
        </p:nvCxnSpPr>
        <p:spPr>
          <a:xfrm>
            <a:off x="5972961" y="1124125"/>
            <a:ext cx="0" cy="53857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8" y="2205700"/>
            <a:ext cx="2251661" cy="1284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9204" y="3704264"/>
            <a:ext cx="346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&lt;area&gt; </a:t>
            </a:r>
            <a:r>
              <a:rPr lang="ko-KR" altLang="en-US" sz="1400" b="1"/>
              <a:t>태그의 속성들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98" y="4012041"/>
            <a:ext cx="4170082" cy="249781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262521" y="1452151"/>
            <a:ext cx="5575883" cy="2965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="images/kids.jpg"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alt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usemap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="#favorites"&gt;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="favorites"&gt;</a:t>
            </a:r>
            <a:endParaRPr lang="en-US" altLang="ko-KR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="rect"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coords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="10,10,160,200"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="http://cafe.naver.com/doithtml5"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="_blank"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alt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="do it html5 </a:t>
            </a:r>
            <a:r>
              <a:rPr lang="ko-KR" altLang="en-US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네이버 카페로 가기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="rect"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coords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="220,10,380,200"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="http://www.facebook.com/do.it.html5"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target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="_blank"</a:t>
            </a:r>
            <a:r>
              <a:rPr lang="en-US" altLang="ko-KR" sz="1400">
                <a:solidFill>
                  <a:srgbClr val="0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>
                <a:solidFill>
                  <a:srgbClr val="FF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alt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="do it html5 </a:t>
            </a:r>
            <a:r>
              <a:rPr lang="ko-KR" altLang="en-US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페이스북 페이지로 가기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endParaRPr lang="ko-KR" altLang="en-US" sz="1400">
              <a:solidFill>
                <a:srgbClr val="000000"/>
              </a:solidFill>
              <a:highlight>
                <a:srgbClr val="FFFFFF"/>
              </a:highlight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400">
                <a:solidFill>
                  <a:srgbClr val="800000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en-US" altLang="ko-KR" sz="1400">
                <a:solidFill>
                  <a:srgbClr val="0000FF"/>
                </a:solidFill>
                <a:highlight>
                  <a:srgbClr val="FFFFFF"/>
                </a:highlight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40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321" y="5260949"/>
            <a:ext cx="2667174" cy="135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9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9904" y="322686"/>
            <a:ext cx="76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03-2</a:t>
            </a:r>
            <a:endParaRPr kumimoji="0" lang="ko-KR" altLang="en-US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546938" y="195951"/>
            <a:ext cx="9091189" cy="667587"/>
          </a:xfrm>
        </p:spPr>
        <p:txBody>
          <a:bodyPr>
            <a:normAutofit/>
          </a:bodyPr>
          <a:lstStyle/>
          <a:p>
            <a:r>
              <a:rPr lang="en-US" altLang="ko-KR" sz="3200"/>
              <a:t>SVG </a:t>
            </a:r>
            <a:r>
              <a:rPr lang="ko-KR" altLang="en-US" sz="3200"/>
              <a:t>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74" y="1267485"/>
            <a:ext cx="47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SVG </a:t>
            </a:r>
            <a:r>
              <a: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파일 형식이란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081" y="1693008"/>
            <a:ext cx="5467880" cy="29084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/>
              <a:t>Scalable Vector Graphics(</a:t>
            </a:r>
            <a:r>
              <a:rPr lang="ko-KR" altLang="en-US" sz="1400"/>
              <a:t>스케일 러블 벡터 그래픽</a:t>
            </a:r>
            <a:r>
              <a:rPr lang="en-US" altLang="ko-KR" sz="1400"/>
              <a:t>)</a:t>
            </a:r>
            <a:r>
              <a:rPr lang="ko-KR" altLang="en-US" sz="1400"/>
              <a:t>의 약자</a:t>
            </a:r>
            <a:endParaRPr lang="en-US" altLang="ko-KR" sz="140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/>
              <a:t>이미지를 확대하거나 축소하더라도 테두리가 원래의 깨끗한 상태로 유지되는 벡터 이미지</a:t>
            </a:r>
            <a:r>
              <a:rPr lang="en-US" altLang="ko-KR" sz="1400"/>
              <a:t/>
            </a:r>
            <a:br>
              <a:rPr lang="en-US" altLang="ko-KR" sz="1400"/>
            </a:br>
            <a:r>
              <a:rPr lang="en-US" altLang="ko-KR" sz="1200">
                <a:solidFill>
                  <a:srgbClr val="0070C0"/>
                </a:solidFill>
              </a:rPr>
              <a:t>(</a:t>
            </a:r>
            <a:r>
              <a:rPr lang="ko-KR" altLang="en-US" sz="1200">
                <a:solidFill>
                  <a:srgbClr val="0070C0"/>
                </a:solidFill>
              </a:rPr>
              <a:t>참고</a:t>
            </a:r>
            <a:r>
              <a:rPr lang="en-US" altLang="ko-KR" sz="1200">
                <a:solidFill>
                  <a:srgbClr val="0070C0"/>
                </a:solidFill>
              </a:rPr>
              <a:t>: jpg</a:t>
            </a:r>
            <a:r>
              <a:rPr lang="ko-KR" altLang="en-US" sz="1200">
                <a:solidFill>
                  <a:srgbClr val="0070C0"/>
                </a:solidFill>
              </a:rPr>
              <a:t>나 </a:t>
            </a:r>
            <a:r>
              <a:rPr lang="en-US" altLang="ko-KR" sz="1200">
                <a:solidFill>
                  <a:srgbClr val="0070C0"/>
                </a:solidFill>
              </a:rPr>
              <a:t>png </a:t>
            </a:r>
            <a:r>
              <a:rPr lang="ko-KR" altLang="en-US" sz="1200">
                <a:solidFill>
                  <a:srgbClr val="0070C0"/>
                </a:solidFill>
              </a:rPr>
              <a:t>등의 이미지는 확대</a:t>
            </a:r>
            <a:r>
              <a:rPr lang="en-US" altLang="ko-KR" sz="1200">
                <a:solidFill>
                  <a:srgbClr val="0070C0"/>
                </a:solidFill>
              </a:rPr>
              <a:t>/</a:t>
            </a:r>
            <a:r>
              <a:rPr lang="ko-KR" altLang="en-US" sz="1200">
                <a:solidFill>
                  <a:srgbClr val="0070C0"/>
                </a:solidFill>
              </a:rPr>
              <a:t>축소하면 테두리가 울퉁불퉁해지는 비트맵 이미지</a:t>
            </a:r>
            <a:r>
              <a:rPr lang="en-US" altLang="ko-KR" sz="1200">
                <a:solidFill>
                  <a:srgbClr val="0070C0"/>
                </a:solidFill>
              </a:rPr>
              <a:t>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로고나 아이 콘에서 많이 사용됨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데이터 시각화에서 차트나 다이어그램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,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지도 등을 구현할 때도 많이 사용됨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.</a:t>
            </a:r>
            <a:br>
              <a:rPr lang="en-US" altLang="ko-KR" sz="1400">
                <a:solidFill>
                  <a:srgbClr val="211D1E"/>
                </a:solidFill>
                <a:latin typeface="TDc_SSiMyungJo 120"/>
              </a:rPr>
            </a:b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(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예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, 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  <a:hlinkClick r:id="rId2"/>
              </a:rPr>
              <a:t>d3.js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 / 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  <a:hlinkClick r:id="rId3"/>
              </a:rPr>
              <a:t>Raphael.js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등의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시각화 라이브러리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)</a:t>
            </a:r>
            <a:endParaRPr lang="ko-KR" altLang="en-US" sz="1400"/>
          </a:p>
        </p:txBody>
      </p:sp>
      <p:cxnSp>
        <p:nvCxnSpPr>
          <p:cNvPr id="8" name="직선 연결선 7"/>
          <p:cNvCxnSpPr/>
          <p:nvPr/>
        </p:nvCxnSpPr>
        <p:spPr>
          <a:xfrm>
            <a:off x="5972961" y="1124125"/>
            <a:ext cx="0" cy="53857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074" y="5176007"/>
            <a:ext cx="508755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&lt;img&gt;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태그를 이용해 파일 형태로 삽입할 수도 있고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태그를 이용해 직접 만들 수도 있음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일러스트레이터나 포토샵에서 제작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, </a:t>
            </a:r>
            <a:r>
              <a:rPr lang="ko-KR" altLang="en-US" sz="1400">
                <a:solidFill>
                  <a:srgbClr val="211D1E"/>
                </a:solidFill>
                <a:latin typeface="TDc_SSiMyungJo 120"/>
              </a:rPr>
              <a:t>편집할 수 있음</a:t>
            </a:r>
            <a:r>
              <a:rPr lang="en-US" altLang="ko-KR" sz="1400">
                <a:solidFill>
                  <a:srgbClr val="211D1E"/>
                </a:solidFill>
                <a:latin typeface="TDc_SSiMyungJo 120"/>
              </a:rPr>
              <a:t>.</a:t>
            </a:r>
            <a:endParaRPr lang="ko-KR" altLang="en-US" sz="1400"/>
          </a:p>
        </p:txBody>
      </p:sp>
      <p:sp>
        <p:nvSpPr>
          <p:cNvPr id="7" name="TextBox 6"/>
          <p:cNvSpPr txBox="1"/>
          <p:nvPr/>
        </p:nvSpPr>
        <p:spPr>
          <a:xfrm>
            <a:off x="6325297" y="3989218"/>
            <a:ext cx="3624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편집기에서 </a:t>
            </a:r>
            <a:r>
              <a:rPr lang="en-US" altLang="ko-KR" sz="1400"/>
              <a:t>svg </a:t>
            </a:r>
            <a:r>
              <a:rPr lang="ko-KR" altLang="en-US" sz="1400"/>
              <a:t>파일 내용 확인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298" y="4296995"/>
            <a:ext cx="5353487" cy="19408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7484" y="1385231"/>
            <a:ext cx="3624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&lt;img&gt; </a:t>
            </a:r>
            <a:r>
              <a:rPr lang="ko-KR" altLang="en-US" sz="1400"/>
              <a:t>태그로 </a:t>
            </a:r>
            <a:r>
              <a:rPr lang="en-US" altLang="ko-KR" sz="1400"/>
              <a:t>svg </a:t>
            </a:r>
            <a:r>
              <a:rPr lang="ko-KR" altLang="en-US" sz="1400"/>
              <a:t>파일 삽입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082" y="1912078"/>
            <a:ext cx="3200400" cy="8191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5603" y="1385231"/>
            <a:ext cx="1407366" cy="16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8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554</Words>
  <Application>Microsoft Office PowerPoint</Application>
  <PresentationFormat>와이드스크린</PresentationFormat>
  <Paragraphs>92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D2Coding</vt:lpstr>
      <vt:lpstr>TDc_SSiMyungJo 120</vt:lpstr>
      <vt:lpstr>맑은 고딕</vt:lpstr>
      <vt:lpstr>Arial</vt:lpstr>
      <vt:lpstr>Office 테마</vt:lpstr>
      <vt:lpstr>03. 이미지와 하이퍼링크</vt:lpstr>
      <vt:lpstr>이미지</vt:lpstr>
      <vt:lpstr>이미지</vt:lpstr>
      <vt:lpstr>이미지</vt:lpstr>
      <vt:lpstr>링크 만들기</vt:lpstr>
      <vt:lpstr>링크 만들기</vt:lpstr>
      <vt:lpstr>링크 만들기</vt:lpstr>
      <vt:lpstr>링크 만들기</vt:lpstr>
      <vt:lpstr>SVG 이미지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HTML이란 무엇일까?</dc:title>
  <dc:creator>Kyunghee Ko</dc:creator>
  <cp:lastModifiedBy>JMP</cp:lastModifiedBy>
  <cp:revision>30</cp:revision>
  <dcterms:created xsi:type="dcterms:W3CDTF">2016-12-02T05:48:21Z</dcterms:created>
  <dcterms:modified xsi:type="dcterms:W3CDTF">2022-01-12T09:22:27Z</dcterms:modified>
</cp:coreProperties>
</file>